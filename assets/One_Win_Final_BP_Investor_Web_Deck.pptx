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1.jpg"/><Relationship Id="rId3" Type="http://schemas.openxmlformats.org/officeDocument/2006/relationships/image" Target="../media/image-3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1.jpg"/><Relationship Id="rId3" Type="http://schemas.openxmlformats.org/officeDocument/2006/relationships/image" Target="../media/image-9-1.jpg"/><Relationship Id="rId4" Type="http://schemas.openxmlformats.org/officeDocument/2006/relationships/image" Target="../media/image-9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D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pic>
        <p:nvPicPr>
          <p:cNvPr id="3" name="Image 0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1E">
              <a:alpha val="82000"/>
            </a:srgbClr>
          </a:solidFill>
          <a:ln w="12700">
            <a:solidFill>
              <a:srgbClr val="10281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657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94A"/>
                </a:solidFill>
              </a:rPr>
              <a:t>CHINA'S PANORAMIC TENNIS LIFESTYLE IP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39684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一球致胜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76656" y="46268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重构中国新中产的网球社交与生活方式生态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5138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5DE"/>
                </a:solidFill>
              </a:rPr>
              <a:t>连接 2,518.8 万网球人口与专业生态的全景式超级 IP。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5779008"/>
            <a:ext cx="2011680" cy="438912"/>
          </a:xfrm>
          <a:prstGeom prst="rect">
            <a:avLst/>
          </a:prstGeom>
          <a:solidFill>
            <a:srgbClr val="10281E"/>
          </a:solidFill>
          <a:ln w="10160">
            <a:solidFill>
              <a:srgbClr val="C9D9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599846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200万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0392" y="6437376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DDE5DE"/>
                </a:solidFill>
              </a:rPr>
              <a:t>基石投资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834640" y="5779008"/>
            <a:ext cx="2286000" cy="438912"/>
          </a:xfrm>
          <a:prstGeom prst="rect">
            <a:avLst/>
          </a:prstGeom>
          <a:solidFill>
            <a:srgbClr val="10281E"/>
          </a:solidFill>
          <a:ln w="10160">
            <a:solidFill>
              <a:srgbClr val="C9D9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99232" y="599846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明星/球星/KOL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99232" y="6437376"/>
            <a:ext cx="19568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DDE5DE"/>
                </a:solidFill>
              </a:rPr>
              <a:t>核心资源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303520" y="5779008"/>
            <a:ext cx="2011680" cy="438912"/>
          </a:xfrm>
          <a:prstGeom prst="rect">
            <a:avLst/>
          </a:prstGeom>
          <a:solidFill>
            <a:srgbClr val="10281E"/>
          </a:solidFill>
          <a:ln w="10160">
            <a:solidFill>
              <a:srgbClr val="C9D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68112" y="599846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Keep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68112" y="6437376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DDE5DE"/>
                </a:solidFill>
              </a:rPr>
              <a:t>战略流量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MARKET INSIGHT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中国大众网球的沙漏型结构失衡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D69"/>
                </a:solidFill>
              </a:rPr>
              <a:t>繁荣数据背后的巨大结构性鸿沟，正是 One Win 的商业切入点。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4688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67919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塔基庞大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" y="299008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3B2E"/>
                </a:solidFill>
              </a:rPr>
              <a:t>2,518.8 万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04672" y="3392424"/>
            <a:ext cx="21396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D69"/>
                </a:solidFill>
              </a:rPr>
              <a:t>塔基庞大，Tenniscore 消费高速增长。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0" y="2011680"/>
            <a:ext cx="3749040" cy="2560320"/>
          </a:xfrm>
          <a:prstGeom prst="arc">
            <a:avLst/>
          </a:prstGeom>
          <a:noFill/>
          <a:ln w="38100">
            <a:solidFill>
              <a:srgbClr val="1E3B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2770632"/>
            <a:ext cx="1417320" cy="1417320"/>
          </a:xfrm>
          <a:prstGeom prst="ellipse">
            <a:avLst/>
          </a:prstGeom>
          <a:solidFill>
            <a:srgbClr val="C9D9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307238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81E"/>
                </a:solidFill>
              </a:rPr>
              <a:t>过渡区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81E"/>
                </a:solidFill>
              </a:rPr>
              <a:t>断层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B2E"/>
                </a:solidFill>
              </a:rPr>
              <a:t>进阶圈层 0.046%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45354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B2E"/>
                </a:solidFill>
              </a:rPr>
              <a:t>消费型新手 2500万+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2514600"/>
            <a:ext cx="24688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267919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塔尖偏细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217152" y="299008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3B2E"/>
                </a:solidFill>
              </a:rPr>
              <a:t>60.4%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17152" y="3392424"/>
            <a:ext cx="21396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D69"/>
                </a:solidFill>
              </a:rPr>
              <a:t>教练资源以初级发展类为主，传统赛事门槛高。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AUDIENCE 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目标人群精准画像与痛点匹配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D69"/>
                </a:solidFill>
              </a:rPr>
              <a:t>用分层化产品解决不同段位用户痛点，实现用户全生命周期留存。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965960"/>
            <a:ext cx="3246120" cy="3886200"/>
          </a:xfrm>
          <a:prstGeom prst="rect">
            <a:avLst/>
          </a:prstGeom>
          <a:solidFill>
            <a:srgbClr val="1E3B2E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61688" y="1965960"/>
            <a:ext cx="3246120" cy="3886200"/>
          </a:xfrm>
          <a:prstGeom prst="rect">
            <a:avLst/>
          </a:prstGeom>
          <a:solidFill>
            <a:srgbClr val="1E3B2E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65008" y="1965960"/>
            <a:ext cx="3246120" cy="3886200"/>
          </a:xfrm>
          <a:prstGeom prst="rect">
            <a:avLst/>
          </a:prstGeom>
          <a:solidFill>
            <a:srgbClr val="1E3B2E"/>
          </a:solidFill>
          <a:ln w="12700">
            <a:solidFill>
              <a:srgbClr val="D8D4CA"/>
            </a:solidFill>
            <a:prstDash val="solid"/>
          </a:ln>
        </p:spPr>
      </p:sp>
      <p:pic>
        <p:nvPicPr>
          <p:cNvPr id="10" name="Image 0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65960"/>
            <a:ext cx="3246120" cy="3886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8368" y="4343400"/>
            <a:ext cx="3246120" cy="1508760"/>
          </a:xfrm>
          <a:prstGeom prst="rect">
            <a:avLst/>
          </a:prstGeom>
          <a:solidFill>
            <a:srgbClr val="10281E">
              <a:alpha val="90000"/>
            </a:srgbClr>
          </a:solidFill>
          <a:ln w="12700">
            <a:solidFill>
              <a:srgbClr val="10281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4988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消费级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22960" y="47365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小白 / 新人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510235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DE5DE"/>
                </a:solidFill>
              </a:rPr>
              <a:t>回合少、捡球多、挫败感强；向往优雅网球标签。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DE5DE"/>
                </a:solidFill>
              </a:rPr>
              <a:t>社交娱乐化赛事与潮流主题活动。</a:t>
            </a:r>
            <a:endParaRPr lang="en-US" sz="820" dirty="0"/>
          </a:p>
        </p:txBody>
      </p:sp>
      <p:pic>
        <p:nvPicPr>
          <p:cNvPr id="15" name="Image 1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965960"/>
            <a:ext cx="3246120" cy="3886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361688" y="4343400"/>
            <a:ext cx="3246120" cy="1508760"/>
          </a:xfrm>
          <a:prstGeom prst="rect">
            <a:avLst/>
          </a:prstGeom>
          <a:solidFill>
            <a:srgbClr val="10281E">
              <a:alpha val="90000"/>
            </a:srgbClr>
          </a:solidFill>
          <a:ln w="12700">
            <a:solidFill>
              <a:srgbClr val="10281E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44988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转换级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4526280" y="47365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初阶选手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26280" y="510235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DE5DE"/>
                </a:solidFill>
              </a:rPr>
              <a:t>有基础但缺乏比赛信心，害怕传统硬核比赛被横扫。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DE5DE"/>
                </a:solidFill>
              </a:rPr>
              <a:t>低门槛趣味 / 分级竞赛与仪式感。</a:t>
            </a:r>
            <a:endParaRPr lang="en-US" sz="820" dirty="0"/>
          </a:p>
        </p:txBody>
      </p:sp>
      <p:pic>
        <p:nvPicPr>
          <p:cNvPr id="20" name="Image 2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965960"/>
            <a:ext cx="3246120" cy="38862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065008" y="4343400"/>
            <a:ext cx="3246120" cy="1508760"/>
          </a:xfrm>
          <a:prstGeom prst="rect">
            <a:avLst/>
          </a:prstGeom>
          <a:solidFill>
            <a:srgbClr val="10281E">
              <a:alpha val="90000"/>
            </a:srgbClr>
          </a:solidFill>
          <a:ln w="12700">
            <a:solidFill>
              <a:srgbClr val="10281E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29600" y="44988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专业级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8229600" y="47365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进阶 / 大师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229600" y="510235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DE5DE"/>
                </a:solidFill>
              </a:rPr>
              <a:t>排斥无效社交，渴望高强度对抗与高光舞台。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DE5DE"/>
                </a:solidFill>
              </a:rPr>
              <a:t>专业分级赛与社群导师制。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POSITIONING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连接两端的超级纽带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D69"/>
                </a:solidFill>
              </a:rPr>
              <a:t>网球界的 Lululemon + Strava，一个集专业、娱乐、观赛、旅游、社交于一体的全景式运动生活 IP。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315468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4261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B2E"/>
                </a:solidFill>
              </a:rPr>
              <a:t>一球致胜赛制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081528"/>
            <a:ext cx="282549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6D69"/>
                </a:solidFill>
              </a:rPr>
              <a:t>快节奏、强悬念，降低新手体能与规则限制。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2423160"/>
            <a:ext cx="315468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64261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B2E"/>
                </a:solidFill>
              </a:rPr>
              <a:t>观赛体验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5152" y="3081528"/>
            <a:ext cx="282549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6D69"/>
                </a:solidFill>
              </a:rPr>
              <a:t>球星见面会与国际大满贯定制网旅承载高溢价产品。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2423160"/>
            <a:ext cx="315468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264261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B2E"/>
                </a:solidFill>
              </a:rPr>
              <a:t>大型主题活动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94192" y="3081528"/>
            <a:ext cx="282549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6D69"/>
                </a:solidFill>
              </a:rPr>
              <a:t>跨界时尚、露营、餐饮，打造网球嘉年华与潮流派对。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D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94A"/>
                </a:solidFill>
              </a:rPr>
              <a:t>O2O FLYWHEEL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C9D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线上流量驱动线下体验，线下高净值私域反哺线上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0" y="2011680"/>
            <a:ext cx="3977640" cy="3977640"/>
          </a:xfrm>
          <a:prstGeom prst="ellipse">
            <a:avLst/>
          </a:prstGeom>
          <a:solidFill>
            <a:srgbClr val="10281E">
              <a:alpha val="0"/>
            </a:srgbClr>
          </a:solidFill>
          <a:ln w="50800">
            <a:solidFill>
              <a:srgbClr val="C9D94A">
                <a:alpha val="75000"/>
              </a:srgbClr>
            </a:solidFill>
            <a:prstDash val="solid"/>
          </a:ln>
        </p:spPr>
      </p:sp>
      <p:pic>
        <p:nvPicPr>
          <p:cNvPr id="7" name="Image 0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5232" y="3182112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755648"/>
            <a:ext cx="1965960" cy="786384"/>
          </a:xfrm>
          <a:prstGeom prst="rect">
            <a:avLst/>
          </a:prstGeom>
          <a:solidFill>
            <a:srgbClr val="1E3B2E"/>
          </a:solidFill>
          <a:ln w="10160">
            <a:solidFill>
              <a:srgbClr val="6D817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8032" y="1975104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公域获客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28032" y="2414016"/>
            <a:ext cx="16367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DE5DE"/>
                </a:solidFill>
              </a:rPr>
              <a:t>Keep 导流 + 明星、球星、KOL 粉丝效应。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8001000" y="2971800"/>
            <a:ext cx="1965960" cy="786384"/>
          </a:xfrm>
          <a:prstGeom prst="rect">
            <a:avLst/>
          </a:prstGeom>
          <a:solidFill>
            <a:srgbClr val="1E3B2E"/>
          </a:solidFill>
          <a:ln w="10160">
            <a:solidFill>
              <a:srgbClr val="6D81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65592" y="319125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线下承接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65592" y="3630168"/>
            <a:ext cx="16367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DE5DE"/>
                </a:solidFill>
              </a:rPr>
              <a:t>12 场 6 城大满贯级赛事与嘉年华。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537960" y="5257800"/>
            <a:ext cx="1965960" cy="786384"/>
          </a:xfrm>
          <a:prstGeom prst="rect">
            <a:avLst/>
          </a:prstGeom>
          <a:solidFill>
            <a:srgbClr val="1E3B2E"/>
          </a:solidFill>
          <a:ln w="10160">
            <a:solidFill>
              <a:srgbClr val="6D81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02552" y="547725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私域沉淀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02552" y="5916168"/>
            <a:ext cx="16367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DE5DE"/>
                </a:solidFill>
              </a:rPr>
              <a:t>扫码进入官方小程序，沉淀高黏性 DAU。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423160" y="5257800"/>
            <a:ext cx="1965960" cy="786384"/>
          </a:xfrm>
          <a:prstGeom prst="rect">
            <a:avLst/>
          </a:prstGeom>
          <a:solidFill>
            <a:srgbClr val="1E3B2E"/>
          </a:solidFill>
          <a:ln w="10160">
            <a:solidFill>
              <a:srgbClr val="6D81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87752" y="547725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线上促活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587752" y="5916168"/>
            <a:ext cx="16367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DE5DE"/>
                </a:solidFill>
              </a:rPr>
              <a:t>WinToken、TBTI 找搭子、打卡竞猜。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68680" y="2971800"/>
            <a:ext cx="1965960" cy="786384"/>
          </a:xfrm>
          <a:prstGeom prst="rect">
            <a:avLst/>
          </a:prstGeom>
          <a:solidFill>
            <a:srgbClr val="1E3B2E"/>
          </a:solidFill>
          <a:ln w="10160">
            <a:solidFill>
              <a:srgbClr val="6D817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3272" y="319125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商业变现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33272" y="3630168"/>
            <a:ext cx="16367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DE5DE"/>
                </a:solidFill>
              </a:rPr>
              <a:t>精准流量反哺赞助商，实现 B/C 端变现。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FORMAT ENGINE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一球致胜赛制，为短视频时代而生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94944" y="2011680"/>
            <a:ext cx="388620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231136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One Win Shot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670048"/>
            <a:ext cx="35570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D69"/>
                </a:solidFill>
              </a:rPr>
              <a:t>一球决胜，把娱乐性和戏剧冲突拉满。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4944" y="3154680"/>
            <a:ext cx="388620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374136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Tie-break Tens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3813048"/>
            <a:ext cx="35570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D69"/>
                </a:solidFill>
              </a:rPr>
              <a:t>极速对决，考验体能与心理抗压。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4944" y="4297680"/>
            <a:ext cx="388620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4517136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Short-video Native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9536" y="4956048"/>
            <a:ext cx="35570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D69"/>
                </a:solidFill>
              </a:rPr>
              <a:t>对决短、反转多、悬念大，适配短视频爆款剪辑。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26680" y="1325880"/>
            <a:ext cx="2148840" cy="4480560"/>
          </a:xfrm>
          <a:prstGeom prst="roundRect">
            <a:avLst>
              <a:gd name="adj" fmla="val 5106"/>
            </a:avLst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pic>
        <p:nvPicPr>
          <p:cNvPr id="16" name="Image 0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1490472"/>
            <a:ext cx="2020824" cy="413308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572500" y="1389888"/>
            <a:ext cx="457200" cy="109728"/>
          </a:xfrm>
          <a:prstGeom prst="roundRect">
            <a:avLst>
              <a:gd name="adj" fmla="val 41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73568" y="3291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D94A"/>
                </a:solidFill>
              </a:rPr>
              <a:t>MATCH POINT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D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94A"/>
                </a:solidFill>
              </a:rPr>
              <a:t>OFFLINE MOAT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C9D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家门口的大满贯仪式感</a:t>
            </a:r>
            <a:endParaRPr lang="en-US" sz="3000" dirty="0"/>
          </a:p>
        </p:txBody>
      </p:sp>
      <p:pic>
        <p:nvPicPr>
          <p:cNvPr id="6" name="Image 0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1E">
              <a:alpha val="80000"/>
            </a:srgbClr>
          </a:solidFill>
          <a:ln w="12700">
            <a:solidFill>
              <a:srgbClr val="10281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94A"/>
                </a:solidFill>
              </a:rPr>
              <a:t>OFFLINE MOAT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C9D9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家门口的大满贯仪式感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13232" y="21488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8EEE9"/>
                </a:solidFill>
              </a:rPr>
              <a:t>高出片率视觉：品牌定制挡网、专业地胶 / 红土。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28346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8EEE9"/>
                </a:solidFill>
              </a:rPr>
              <a:t>轻量化科技：鹰眼系统或智能测速仪，大屏实时显示。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232" y="35204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8EEE9"/>
                </a:solidFill>
              </a:rPr>
              <a:t>职业级服务：球童、国家级裁判、赛事理疗恢复区。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42062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8EEE9"/>
                </a:solidFill>
              </a:rPr>
              <a:t>顶级装备支持：球拍试打与大满贯标准比赛用球。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CITY 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大主力 + 3 大潜力城市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D69"/>
                </a:solidFill>
              </a:rPr>
              <a:t>从高势能圈层引爆，到高净值社群深耕。</a:t>
            </a:r>
            <a:endParaRPr lang="en-US" sz="1200" dirty="0"/>
          </a:p>
        </p:txBody>
      </p:sp>
      <p:pic>
        <p:nvPicPr>
          <p:cNvPr id="7" name="Image 0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512"/>
            <a:ext cx="10195560" cy="44988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MINI PROGRAM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唯一官方数字阵地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D69"/>
                </a:solidFill>
              </a:rPr>
              <a:t>用小程序替代传统第三方报名，实现报名、分级匹配、赛场互动、数据沉淀与社区社交闭环。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1901952"/>
            <a:ext cx="1755648" cy="3913632"/>
          </a:xfrm>
          <a:prstGeom prst="roundRect">
            <a:avLst>
              <a:gd name="adj" fmla="val 6250"/>
            </a:avLst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pic>
        <p:nvPicPr>
          <p:cNvPr id="8" name="Image 0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66544"/>
            <a:ext cx="1627632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62456" y="1965960"/>
            <a:ext cx="457200" cy="109728"/>
          </a:xfrm>
          <a:prstGeom prst="roundRect">
            <a:avLst>
              <a:gd name="adj" fmla="val 41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9584" y="1901952"/>
            <a:ext cx="1755648" cy="3913632"/>
          </a:xfrm>
          <a:prstGeom prst="roundRect">
            <a:avLst>
              <a:gd name="adj" fmla="val 6250"/>
            </a:avLst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pic>
        <p:nvPicPr>
          <p:cNvPr id="11" name="Image 1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066544"/>
            <a:ext cx="1627632" cy="35661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78808" y="1965960"/>
            <a:ext cx="457200" cy="109728"/>
          </a:xfrm>
          <a:prstGeom prst="roundRect">
            <a:avLst>
              <a:gd name="adj" fmla="val 41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45936" y="1901952"/>
            <a:ext cx="1755648" cy="3913632"/>
          </a:xfrm>
          <a:prstGeom prst="roundRect">
            <a:avLst>
              <a:gd name="adj" fmla="val 6250"/>
            </a:avLst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pic>
        <p:nvPicPr>
          <p:cNvPr id="14" name="Image 2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066544"/>
            <a:ext cx="1627632" cy="35661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995160" y="1965960"/>
            <a:ext cx="457200" cy="109728"/>
          </a:xfrm>
          <a:prstGeom prst="roundRect">
            <a:avLst>
              <a:gd name="adj" fmla="val 41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62288" y="1901952"/>
            <a:ext cx="1755648" cy="3913632"/>
          </a:xfrm>
          <a:prstGeom prst="roundRect">
            <a:avLst>
              <a:gd name="adj" fmla="val 6250"/>
            </a:avLst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pic>
        <p:nvPicPr>
          <p:cNvPr id="17" name="Image 3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2066544"/>
            <a:ext cx="1627632" cy="35661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811512" y="1965960"/>
            <a:ext cx="457200" cy="109728"/>
          </a:xfrm>
          <a:prstGeom prst="roundRect">
            <a:avLst>
              <a:gd name="adj" fmla="val 41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WINTOKEN ECONOMICS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WinToken 经济学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315468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64261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B2E"/>
                </a:solidFill>
              </a:rPr>
              <a:t>产出模型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081528"/>
            <a:ext cx="282549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6D69"/>
                </a:solidFill>
              </a:rPr>
              <a:t>完善基础信息、每日步数打卡、赢球奖励、好友裂变、分享笔记。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2423160"/>
            <a:ext cx="315468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64261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B2E"/>
                </a:solidFill>
              </a:rPr>
              <a:t>消耗与兑换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5152" y="3081528"/>
            <a:ext cx="282549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6D69"/>
                </a:solidFill>
              </a:rPr>
              <a:t>报名费抵扣、赞助商抽奖、虚拟勋章、搭子大厅置顶卡。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2423160"/>
            <a:ext cx="315468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264261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B2E"/>
                </a:solidFill>
              </a:rPr>
              <a:t>防作弊机制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94192" y="3081528"/>
            <a:ext cx="282549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6D69"/>
                </a:solidFill>
              </a:rPr>
              <a:t>实名认证、GPS 与打卡频率风控算法，保障公平与公信力。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D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94A"/>
                </a:solidFill>
              </a:rPr>
              <a:t>TBTI SOCIAL CARD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C9D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TBTI 社交名片与精准找搭子</a:t>
            </a:r>
            <a:endParaRPr lang="en-US" sz="3000" dirty="0"/>
          </a:p>
        </p:txBody>
      </p:sp>
      <p:pic>
        <p:nvPicPr>
          <p:cNvPr id="6" name="Image 0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1E">
              <a:alpha val="88000"/>
            </a:srgbClr>
          </a:solidFill>
          <a:ln w="12700">
            <a:solidFill>
              <a:srgbClr val="10281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94A"/>
                </a:solidFill>
              </a:rPr>
              <a:t>TBTI SOCIAL CARD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C9D9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TBTI 社交名片与精准找搭子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800" y="4297680"/>
            <a:ext cx="2423160" cy="1115568"/>
          </a:xfrm>
          <a:prstGeom prst="rect">
            <a:avLst/>
          </a:prstGeom>
          <a:solidFill>
            <a:srgbClr val="10281E"/>
          </a:solidFill>
          <a:ln w="10160">
            <a:solidFill>
              <a:srgbClr val="C9D9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4517136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30 道趣味测试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0392" y="4956048"/>
            <a:ext cx="2093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DE5DE"/>
                </a:solidFill>
              </a:rPr>
              <a:t>击球风格、NTRP 水平与头像生成网球名片。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3429000" y="4297680"/>
            <a:ext cx="2423160" cy="1115568"/>
          </a:xfrm>
          <a:prstGeom prst="rect">
            <a:avLst/>
          </a:prstGeom>
          <a:solidFill>
            <a:srgbClr val="10281E"/>
          </a:solidFill>
          <a:ln w="10160">
            <a:solidFill>
              <a:srgbClr val="C9D9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4517136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LBS 同频匹配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93592" y="4956048"/>
            <a:ext cx="2093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DE5DE"/>
                </a:solidFill>
              </a:rPr>
              <a:t>锁定周边同频球友。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6172200" y="4297680"/>
            <a:ext cx="2423160" cy="1115568"/>
          </a:xfrm>
          <a:prstGeom prst="rect">
            <a:avLst/>
          </a:prstGeom>
          <a:solidFill>
            <a:srgbClr val="10281E"/>
          </a:solidFill>
          <a:ln w="10160">
            <a:solidFill>
              <a:srgbClr val="C9D9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6792" y="4517136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人气外卡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36792" y="4956048"/>
            <a:ext cx="2093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DE5DE"/>
                </a:solidFill>
              </a:rPr>
              <a:t>好友点赞转积分，撬动低成本流量。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UNFAIR ADVANTAGE 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深度合作，建立精准流量漏斗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1031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05409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独家入口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493008"/>
            <a:ext cx="1773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D69"/>
                </a:solidFill>
              </a:rPr>
              <a:t>获得高净值运动用户曝光。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98064" y="3310128"/>
            <a:ext cx="347472" cy="256032"/>
          </a:xfrm>
          <a:prstGeom prst="rightArrow">
            <a:avLst/>
          </a:prstGeom>
          <a:solidFill>
            <a:srgbClr val="C9D94A"/>
          </a:solidFill>
          <a:ln w="12700">
            <a:solidFill>
              <a:srgbClr val="C9D9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834640"/>
            <a:ext cx="21031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305409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线下体验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7872" y="3493008"/>
            <a:ext cx="1773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D69"/>
                </a:solidFill>
              </a:rPr>
              <a:t>导流至 One Win 赛事与嘉年华。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41264" y="3310128"/>
            <a:ext cx="347472" cy="256032"/>
          </a:xfrm>
          <a:prstGeom prst="rightArrow">
            <a:avLst/>
          </a:prstGeom>
          <a:solidFill>
            <a:srgbClr val="C9D94A"/>
          </a:solidFill>
          <a:ln w="12700">
            <a:solidFill>
              <a:srgbClr val="C9D9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834640"/>
            <a:ext cx="21031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305409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私域沉淀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1072" y="3493008"/>
            <a:ext cx="1773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D69"/>
                </a:solidFill>
              </a:rPr>
              <a:t>小程序承接注册、数据与社交关系。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84464" y="3310128"/>
            <a:ext cx="347472" cy="256032"/>
          </a:xfrm>
          <a:prstGeom prst="rightArrow">
            <a:avLst/>
          </a:prstGeom>
          <a:solidFill>
            <a:srgbClr val="C9D94A"/>
          </a:solidFill>
          <a:ln w="12700">
            <a:solidFill>
              <a:srgbClr val="C9D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2834640"/>
            <a:ext cx="21031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305409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联合招商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4272" y="3493008"/>
            <a:ext cx="1773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D69"/>
                </a:solidFill>
              </a:rPr>
              <a:t>撬动服装、汽车、腕表等高端赞助。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UNFAIR ADVANTAGE 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明星与 KOL 稀缺性嵌入矩阵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10241280" cy="960120"/>
          </a:xfrm>
          <a:prstGeom prst="rect">
            <a:avLst/>
          </a:prstGeom>
          <a:solidFill>
            <a:srgbClr val="1E3B2E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22576"/>
            <a:ext cx="991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Tier 1  一线娱乐明星 / 网球巨星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761488"/>
            <a:ext cx="9912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DE5DE"/>
                </a:solidFill>
              </a:rPr>
              <a:t>全国总决赛终极引爆，澳网圆梦之旅 Vlog 破圈。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81328" y="3337560"/>
            <a:ext cx="910742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355701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B2E"/>
                </a:solidFill>
              </a:rPr>
              <a:t>Tier 2  头部网球 UP 主 / 退役名将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995928"/>
            <a:ext cx="8778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D69"/>
                </a:solidFill>
              </a:rPr>
              <a:t>核心城市站守关人，专业背书与硬核传播。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48256" y="4572000"/>
            <a:ext cx="7973568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4791456"/>
            <a:ext cx="7644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B2E"/>
                </a:solidFill>
              </a:rPr>
              <a:t>Tier 3  本地网球潮流达人 / 同城 KOL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12848" y="5230368"/>
            <a:ext cx="7644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D69"/>
                </a:solidFill>
              </a:rPr>
              <a:t>城市赛区队长，小红书与同城预热。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MONETIZATION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四大核心变现引擎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331720" cy="2514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49631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B端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0392" y="280720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品牌赞助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3209544"/>
            <a:ext cx="200253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6D69"/>
                </a:solidFill>
              </a:rPr>
              <a:t>冠名权、指定用车 / 用表 / 饮用水。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474720" y="2331720"/>
            <a:ext cx="2331720" cy="2514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49631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B端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39312" y="280720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线上广告与分成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209544"/>
            <a:ext cx="200253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6D69"/>
                </a:solidFill>
              </a:rPr>
              <a:t>启动页、Banner、Keep 联合招商。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63640" y="2331720"/>
            <a:ext cx="2331720" cy="2514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49631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C端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28232" y="280720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报名费与门票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28232" y="3209544"/>
            <a:ext cx="200253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6D69"/>
                </a:solidFill>
              </a:rPr>
              <a:t>WinToken + 现金报名费，派对与集市门票。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052560" y="2331720"/>
            <a:ext cx="2331720" cy="2514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7152" y="249631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C端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217152" y="280720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B2E"/>
                </a:solidFill>
              </a:rPr>
              <a:t>高溢价服务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17152" y="3209544"/>
            <a:ext cx="200253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6D69"/>
                </a:solidFill>
              </a:rPr>
              <a:t>澳网 / 温网圆梦之旅，免排队卡等虚拟道具。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UNIT ECONOMICS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成本控制与盈利能力预测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D69"/>
                </a:solidFill>
              </a:rPr>
              <a:t>单场总预算严格控制在 70 万以内；模板化降低成本，品牌池提升收益。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301752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6829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3B2E"/>
                </a:solidFill>
              </a:rPr>
              <a:t>单场预算 ≤70万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2807208"/>
            <a:ext cx="2688336" cy="2093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D69"/>
                </a:solidFill>
              </a:rPr>
              <a:t>场地租赁 3-5万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D69"/>
                </a:solidFill>
              </a:rPr>
              <a:t>舞美搭建 3万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D69"/>
                </a:solidFill>
              </a:rPr>
              <a:t>兼职运营 3万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D69"/>
                </a:solidFill>
              </a:rPr>
              <a:t>KOL差旅 10万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D69"/>
                </a:solidFill>
              </a:rPr>
              <a:t>机动费用 1万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4528" y="1938528"/>
            <a:ext cx="68122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487168"/>
            <a:ext cx="6053328" cy="0"/>
          </a:xfrm>
          <a:prstGeom prst="line">
            <a:avLst/>
          </a:prstGeom>
          <a:noFill/>
          <a:ln w="8890">
            <a:solidFill>
              <a:srgbClr val="D8D4CA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3054096"/>
            <a:ext cx="6053328" cy="0"/>
          </a:xfrm>
          <a:prstGeom prst="line">
            <a:avLst/>
          </a:prstGeom>
          <a:noFill/>
          <a:ln w="8890">
            <a:solidFill>
              <a:srgbClr val="D8D4CA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3621024"/>
            <a:ext cx="6053328" cy="0"/>
          </a:xfrm>
          <a:prstGeom prst="line">
            <a:avLst/>
          </a:prstGeom>
          <a:noFill/>
          <a:ln w="8890">
            <a:solidFill>
              <a:srgbClr val="D8D4CA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4187952"/>
            <a:ext cx="6053328" cy="0"/>
          </a:xfrm>
          <a:prstGeom prst="line">
            <a:avLst/>
          </a:prstGeom>
          <a:noFill/>
          <a:ln w="8890">
            <a:solidFill>
              <a:srgbClr val="D8D4CA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4754880"/>
            <a:ext cx="6080760" cy="0"/>
          </a:xfrm>
          <a:prstGeom prst="line">
            <a:avLst/>
          </a:prstGeom>
          <a:noFill/>
          <a:ln w="17780">
            <a:solidFill>
              <a:srgbClr val="1E3B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2240280"/>
            <a:ext cx="0" cy="2514600"/>
          </a:xfrm>
          <a:prstGeom prst="line">
            <a:avLst/>
          </a:prstGeom>
          <a:noFill/>
          <a:ln w="17780">
            <a:solidFill>
              <a:srgbClr val="1E3B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2606040"/>
            <a:ext cx="1408176" cy="228600"/>
          </a:xfrm>
          <a:prstGeom prst="line">
            <a:avLst/>
          </a:prstGeom>
          <a:noFill/>
          <a:ln w="40640">
            <a:solidFill>
              <a:srgbClr val="9CA19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2834640"/>
            <a:ext cx="1316736" cy="411480"/>
          </a:xfrm>
          <a:prstGeom prst="line">
            <a:avLst/>
          </a:prstGeom>
          <a:noFill/>
          <a:ln w="40640">
            <a:solidFill>
              <a:srgbClr val="9CA19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1504" y="3246120"/>
            <a:ext cx="1335024" cy="704088"/>
          </a:xfrm>
          <a:prstGeom prst="line">
            <a:avLst/>
          </a:prstGeom>
          <a:noFill/>
          <a:ln w="40640">
            <a:solidFill>
              <a:srgbClr val="9CA1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96528" y="3950208"/>
            <a:ext cx="1581912" cy="420624"/>
          </a:xfrm>
          <a:prstGeom prst="line">
            <a:avLst/>
          </a:prstGeom>
          <a:noFill/>
          <a:ln w="40640">
            <a:solidFill>
              <a:srgbClr val="9CA19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2555748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9CA1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4476" y="2784348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9CA1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11212" y="3195828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9CA19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46236" y="3899916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9CA19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28148" y="4320540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9CA1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6592" y="4370832"/>
            <a:ext cx="1408176" cy="-365760"/>
          </a:xfrm>
          <a:prstGeom prst="line">
            <a:avLst/>
          </a:prstGeom>
          <a:noFill/>
          <a:ln w="40640">
            <a:solidFill>
              <a:srgbClr val="C9D9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4005072"/>
            <a:ext cx="1316736" cy="-713232"/>
          </a:xfrm>
          <a:prstGeom prst="line">
            <a:avLst/>
          </a:prstGeom>
          <a:noFill/>
          <a:ln w="40640">
            <a:solidFill>
              <a:srgbClr val="C9D9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1504" y="3291840"/>
            <a:ext cx="1335024" cy="-640080"/>
          </a:xfrm>
          <a:prstGeom prst="line">
            <a:avLst/>
          </a:prstGeom>
          <a:noFill/>
          <a:ln w="40640">
            <a:solidFill>
              <a:srgbClr val="C9D9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96528" y="2651760"/>
            <a:ext cx="1581912" cy="-320040"/>
          </a:xfrm>
          <a:prstGeom prst="line">
            <a:avLst/>
          </a:prstGeom>
          <a:noFill/>
          <a:ln w="40640">
            <a:solidFill>
              <a:srgbClr val="C9D9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4320540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D9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4476" y="3954780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D9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11212" y="3241548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D9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46236" y="2601468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D9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28148" y="2281428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D9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4498848"/>
            <a:ext cx="1408176" cy="-182880"/>
          </a:xfrm>
          <a:prstGeom prst="line">
            <a:avLst/>
          </a:prstGeom>
          <a:noFill/>
          <a:ln w="40640">
            <a:solidFill>
              <a:srgbClr val="1E3B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44768" y="4315968"/>
            <a:ext cx="1316736" cy="-585216"/>
          </a:xfrm>
          <a:prstGeom prst="line">
            <a:avLst/>
          </a:prstGeom>
          <a:noFill/>
          <a:ln w="40640">
            <a:solidFill>
              <a:srgbClr val="1E3B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61504" y="3730752"/>
            <a:ext cx="1335024" cy="-758952"/>
          </a:xfrm>
          <a:prstGeom prst="line">
            <a:avLst/>
          </a:prstGeom>
          <a:noFill/>
          <a:ln w="40640">
            <a:solidFill>
              <a:srgbClr val="1E3B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96528" y="2971800"/>
            <a:ext cx="1581912" cy="-429768"/>
          </a:xfrm>
          <a:prstGeom prst="line">
            <a:avLst/>
          </a:prstGeom>
          <a:noFill/>
          <a:ln w="40640">
            <a:solidFill>
              <a:srgbClr val="1E3B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4448556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E3B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4476" y="4265676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E3B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11212" y="3680460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E3B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46236" y="2921508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E3B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28148" y="2491740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E3B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D69"/>
                </a:solidFill>
              </a:rPr>
              <a:t>首站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59168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D69"/>
                </a:solidFill>
              </a:rPr>
              <a:t>复制期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582912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D69"/>
                </a:solidFill>
              </a:rPr>
              <a:t>规模化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443984" y="201168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B2E"/>
                </a:solidFill>
              </a:rPr>
              <a:t>赛事越多，模板化摊薄边际成本；赞助效率与 DAU 社交效应同步抬升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462272" y="5440680"/>
            <a:ext cx="292608" cy="45720"/>
          </a:xfrm>
          <a:prstGeom prst="rect">
            <a:avLst/>
          </a:prstGeom>
          <a:solidFill>
            <a:srgbClr val="9CA19D"/>
          </a:solidFill>
          <a:ln w="12700">
            <a:solidFill>
              <a:srgbClr val="9CA19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9744" y="53583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D69"/>
                </a:solidFill>
              </a:rPr>
              <a:t>边际办赛成本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336792" y="5440680"/>
            <a:ext cx="292608" cy="45720"/>
          </a:xfrm>
          <a:prstGeom prst="rect">
            <a:avLst/>
          </a:prstGeom>
          <a:solidFill>
            <a:srgbClr val="C9D94A"/>
          </a:solidFill>
          <a:ln w="12700">
            <a:solidFill>
              <a:srgbClr val="C9D9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84264" y="53583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D69"/>
                </a:solidFill>
              </a:rPr>
              <a:t>赞助/广告效率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211312" y="5440680"/>
            <a:ext cx="292608" cy="45720"/>
          </a:xfrm>
          <a:prstGeom prst="rect">
            <a:avLst/>
          </a:prstGeom>
          <a:solidFill>
            <a:srgbClr val="1E3B2E"/>
          </a:solidFill>
          <a:ln w="12700">
            <a:solidFill>
              <a:srgbClr val="1E3B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58784" y="53583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D69"/>
                </a:solidFill>
              </a:rPr>
              <a:t>DAU 与社交效应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TEAM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核心团队与赛马机制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2359152"/>
            <a:ext cx="31546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523744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CEO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77824" y="2834640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B2E"/>
                </a:solidFill>
              </a:rPr>
              <a:t>金文森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77824" y="3236976"/>
            <a:ext cx="28254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D69"/>
                </a:solidFill>
              </a:rPr>
              <a:t>大型体育赛事 SOP、12 城落地、融资与运营决策。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16552" y="2359152"/>
            <a:ext cx="31546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2523744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COO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81144" y="2834640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B2E"/>
                </a:solidFill>
              </a:rPr>
              <a:t>周超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3236976"/>
            <a:ext cx="28254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D69"/>
                </a:solidFill>
              </a:rPr>
              <a:t>互联网、线上产品研发与顶层商业架构。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9872" y="2359152"/>
            <a:ext cx="31546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2523744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94A"/>
                </a:solidFill>
              </a:rPr>
              <a:t>CRO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284464" y="2834640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B2E"/>
                </a:solidFill>
              </a:rPr>
              <a:t>袁咏琳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84464" y="3236976"/>
            <a:ext cx="28254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D69"/>
                </a:solidFill>
              </a:rPr>
              <a:t>娱乐与网球明星资源，Tier 1-3 资源导入及融资落地。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2026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落地时间轴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10149840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090672"/>
            <a:ext cx="310896" cy="310896"/>
          </a:xfrm>
          <a:prstGeom prst="ellipse">
            <a:avLst/>
          </a:prstGeom>
          <a:solidFill>
            <a:srgbClr val="1E3B2E"/>
          </a:solidFill>
          <a:ln w="12700">
            <a:solidFill>
              <a:srgbClr val="1E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B2E"/>
                </a:solidFill>
              </a:rPr>
              <a:t>6-7月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5661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6D69"/>
                </a:solidFill>
              </a:rPr>
              <a:t>团队组建，小程序 V1.0 内测，早鸟裂变。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999232" y="3090672"/>
            <a:ext cx="310896" cy="310896"/>
          </a:xfrm>
          <a:prstGeom prst="ellipse">
            <a:avLst/>
          </a:prstGeom>
          <a:solidFill>
            <a:srgbClr val="C9D94A"/>
          </a:solidFill>
          <a:ln w="12700">
            <a:solidFill>
              <a:srgbClr val="1E3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B2E"/>
                </a:solidFill>
              </a:rPr>
              <a:t>8月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96312" y="35661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6D69"/>
                </a:solidFill>
              </a:rPr>
              <a:t>小程序上线，上海揭幕战与 Keep 联名活动。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084064" y="3090672"/>
            <a:ext cx="310896" cy="310896"/>
          </a:xfrm>
          <a:prstGeom prst="ellipse">
            <a:avLst/>
          </a:prstGeom>
          <a:solidFill>
            <a:srgbClr val="1E3B2E"/>
          </a:solidFill>
          <a:ln w="12700">
            <a:solidFill>
              <a:srgbClr val="1E3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B2E"/>
                </a:solidFill>
              </a:rPr>
              <a:t>9-11月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1144" y="35661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6D69"/>
                </a:solidFill>
              </a:rPr>
              <a:t>杭州、北京、成都、深圳、武汉依次落地。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168896" y="3090672"/>
            <a:ext cx="310896" cy="310896"/>
          </a:xfrm>
          <a:prstGeom prst="ellipse">
            <a:avLst/>
          </a:prstGeom>
          <a:solidFill>
            <a:srgbClr val="1E3B2E"/>
          </a:solidFill>
          <a:ln w="12700">
            <a:solidFill>
              <a:srgbClr val="1E3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0296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B2E"/>
                </a:solidFill>
              </a:rPr>
              <a:t>12月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65976" y="35661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6D69"/>
                </a:solidFill>
              </a:rPr>
              <a:t>全国总决赛，明星落地，流量顶峰。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253728" y="3090672"/>
            <a:ext cx="310896" cy="310896"/>
          </a:xfrm>
          <a:prstGeom prst="ellipse">
            <a:avLst/>
          </a:prstGeom>
          <a:solidFill>
            <a:srgbClr val="1E3B2E"/>
          </a:solidFill>
          <a:ln w="12700">
            <a:solidFill>
              <a:srgbClr val="1E3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25128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B2E"/>
                </a:solidFill>
              </a:rPr>
              <a:t>2027年1月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50808" y="35661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6D69"/>
                </a:solidFill>
              </a:rPr>
              <a:t>澳网圆梦之旅，高客单 C 端闭环。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D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94A"/>
                </a:solidFill>
              </a:rPr>
              <a:t>THE ASK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C9D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天使轮 500 万人民币，出让 10%-15% 股权</a:t>
            </a:r>
            <a:endParaRPr lang="en-US" sz="2400" dirty="0"/>
          </a:p>
        </p:txBody>
      </p:sp>
      <p:pic>
        <p:nvPicPr>
          <p:cNvPr id="6" name="Image 0" descr="/Users/jamesnera/Documents/Codex/2026-06-10/files-mentioned-by-the-user-4/outputs/onewin_final_bp_deck/tmp_images/L1VzZXJzL2phbWVzbmVyYS9Eb2N1bWVudHMvQ29kZ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1E">
              <a:alpha val="85000"/>
            </a:srgbClr>
          </a:solidFill>
          <a:ln w="12700">
            <a:solidFill>
              <a:srgbClr val="10281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94A"/>
                </a:solidFill>
              </a:rPr>
              <a:t>THE ASK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C9D9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天使轮 500 万人民币，出让 10%-15% 股权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31520" y="2560320"/>
            <a:ext cx="1874520" cy="877824"/>
          </a:xfrm>
          <a:prstGeom prst="rect">
            <a:avLst/>
          </a:prstGeom>
          <a:solidFill>
            <a:srgbClr val="10281E"/>
          </a:solidFill>
          <a:ln w="10160">
            <a:solidFill>
              <a:srgbClr val="C9D9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779776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500万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96112" y="3218688"/>
            <a:ext cx="15453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DE5DE"/>
                </a:solidFill>
              </a:rPr>
              <a:t>本轮诉求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880360" y="2560320"/>
            <a:ext cx="1874520" cy="877824"/>
          </a:xfrm>
          <a:prstGeom prst="rect">
            <a:avLst/>
          </a:prstGeom>
          <a:solidFill>
            <a:srgbClr val="10281E"/>
          </a:solidFill>
          <a:ln w="10160">
            <a:solidFill>
              <a:srgbClr val="C9D9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44952" y="2779776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200万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044952" y="3218688"/>
            <a:ext cx="15453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DE5DE"/>
                </a:solidFill>
              </a:rPr>
              <a:t>创始团队基石投入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029200" y="2560320"/>
            <a:ext cx="1874520" cy="877824"/>
          </a:xfrm>
          <a:prstGeom prst="rect">
            <a:avLst/>
          </a:prstGeom>
          <a:solidFill>
            <a:srgbClr val="10281E"/>
          </a:solidFill>
          <a:ln w="10160">
            <a:solidFill>
              <a:srgbClr val="C9D9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93792" y="2779776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10%-15%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193792" y="3218688"/>
            <a:ext cx="15453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DE5DE"/>
                </a:solidFill>
              </a:rPr>
              <a:t>拟出让股权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77240" y="3977640"/>
            <a:ext cx="3749040" cy="201168"/>
          </a:xfrm>
          <a:prstGeom prst="rect">
            <a:avLst/>
          </a:prstGeom>
          <a:solidFill>
            <a:srgbClr val="C9D94A"/>
          </a:solidFill>
          <a:ln w="12700">
            <a:solidFill>
              <a:srgbClr val="C9D9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39136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40% 赛事体验升级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77240" y="4361688"/>
            <a:ext cx="2834640" cy="201168"/>
          </a:xfrm>
          <a:prstGeom prst="rect">
            <a:avLst/>
          </a:prstGeom>
          <a:solidFill>
            <a:srgbClr val="C9D94A"/>
          </a:solidFill>
          <a:ln w="12700">
            <a:solidFill>
              <a:srgbClr val="C9D9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4297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30% 产品研发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77240" y="4745736"/>
            <a:ext cx="1920240" cy="201168"/>
          </a:xfrm>
          <a:prstGeom prst="rect">
            <a:avLst/>
          </a:prstGeom>
          <a:solidFill>
            <a:srgbClr val="C9D94A"/>
          </a:solidFill>
          <a:ln w="12700">
            <a:solidFill>
              <a:srgbClr val="C9D9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46817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20% 市场推广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77240" y="5129784"/>
            <a:ext cx="1005840" cy="201168"/>
          </a:xfrm>
          <a:prstGeom prst="rect">
            <a:avLst/>
          </a:prstGeom>
          <a:solidFill>
            <a:srgbClr val="C9D94A"/>
          </a:solidFill>
          <a:ln w="12700">
            <a:solidFill>
              <a:srgbClr val="C9D9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50657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10% 备用金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B2E"/>
                </a:solidFill>
              </a:rPr>
              <a:t>RISK CONTROL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658368"/>
            <a:ext cx="310896" cy="0"/>
          </a:xfrm>
          <a:prstGeom prst="line">
            <a:avLst/>
          </a:prstGeom>
          <a:noFill/>
          <a:ln w="25400">
            <a:solidFill>
              <a:srgbClr val="1E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投资人利益保障与对赌控制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063240" cy="2331720"/>
          </a:xfrm>
          <a:prstGeom prst="rect">
            <a:avLst/>
          </a:prstGeom>
          <a:solidFill>
            <a:srgbClr val="1E3B2E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551176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ESOP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2990088"/>
            <a:ext cx="2734056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5DE"/>
                </a:solidFill>
              </a:rPr>
              <a:t>预留 10%-15% 期权池。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2331720"/>
            <a:ext cx="30632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551176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B2E"/>
                </a:solidFill>
              </a:rPr>
              <a:t>Milestone 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9432" y="2990088"/>
            <a:ext cx="2734056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D69"/>
                </a:solidFill>
              </a:rPr>
              <a:t>8 月上海站 Tier 2 资源按时到位且 DAU 达标。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2331720"/>
            <a:ext cx="30632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2551176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B2E"/>
                </a:solidFill>
              </a:rPr>
              <a:t>Milestone 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57032" y="2990088"/>
            <a:ext cx="2734056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D69"/>
                </a:solidFill>
              </a:rPr>
              <a:t>500 万融资到账，12 月总决赛 Tier 1 明星出席。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One Win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Win Final Investor BP</dc:title>
  <dc:subject>One Win Angel Round Business Plan</dc:subject>
  <dc:creator>One Win</dc:creator>
  <cp:lastModifiedBy>One Win</cp:lastModifiedBy>
  <cp:revision>1</cp:revision>
  <dcterms:created xsi:type="dcterms:W3CDTF">2026-06-15T18:35:14Z</dcterms:created>
  <dcterms:modified xsi:type="dcterms:W3CDTF">2026-06-15T18:35:14Z</dcterms:modified>
</cp:coreProperties>
</file>